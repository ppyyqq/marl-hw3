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47" r:id="rId2"/>
    <p:sldId id="306" r:id="rId3"/>
    <p:sldId id="307" r:id="rId4"/>
    <p:sldId id="308" r:id="rId5"/>
    <p:sldId id="311" r:id="rId6"/>
    <p:sldId id="353" r:id="rId7"/>
    <p:sldId id="309" r:id="rId8"/>
    <p:sldId id="328" r:id="rId9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903" userDrawn="1">
          <p15:clr>
            <a:srgbClr val="A4A3A4"/>
          </p15:clr>
        </p15:guide>
        <p15:guide id="2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84" autoAdjust="0"/>
    <p:restoredTop sz="91096"/>
  </p:normalViewPr>
  <p:slideViewPr>
    <p:cSldViewPr snapToGrid="0" showGuides="1">
      <p:cViewPr varScale="1">
        <p:scale>
          <a:sx n="115" d="100"/>
          <a:sy n="115" d="100"/>
        </p:scale>
        <p:origin x="2408" y="200"/>
      </p:cViewPr>
      <p:guideLst>
        <p:guide pos="2903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5" d="100"/>
          <a:sy n="65" d="100"/>
        </p:scale>
        <p:origin x="164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750A8A6-0A81-44A9-BCA1-72ABF00D9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79CA7B-9F47-45A8-9B03-353B538E78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B8634-8B22-44A9-BF76-EC6050F0413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D5C621-0080-48F4-AFE4-9E44D665D6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6FA040-9F4B-4208-A259-A50D288F82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D1725-F63C-4D68-B092-6398EEAA28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902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AB318-3EBD-4941-BBAA-D4E792B6ED5D}" type="datetimeFigureOut">
              <a:rPr kumimoji="1" lang="zh-CN" altLang="en-US" smtClean="0"/>
              <a:t>2026/5/30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7246C-BA67-1341-9B3C-B3C41949AF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800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7246C-BA67-1341-9B3C-B3C41949AFC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454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2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74" y="259976"/>
            <a:ext cx="8416925" cy="5688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C00000"/>
              </a:buClr>
              <a:buSzPct val="60000"/>
              <a:buFont typeface="Wingdings" pitchFamily="2" charset="2"/>
              <a:buChar char="p"/>
              <a:defRPr/>
            </a:lvl1pPr>
            <a:lvl2pPr>
              <a:buClr>
                <a:srgbClr val="C00000"/>
              </a:buClr>
              <a:defRPr/>
            </a:lvl2pPr>
            <a:lvl3pPr marL="1143000" indent="-228600">
              <a:buClr>
                <a:srgbClr val="C00000"/>
              </a:buClr>
              <a:buSzPct val="40000"/>
              <a:buFont typeface="Wingdings" pitchFamily="2" charset="2"/>
              <a:buChar char="u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9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00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72" y="242260"/>
            <a:ext cx="8416925" cy="5688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78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72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74" y="248959"/>
            <a:ext cx="8416925" cy="5688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87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950" y="945102"/>
            <a:ext cx="8413750" cy="5231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235D3FC-3101-4493-8F59-DA75798769DA}"/>
              </a:ext>
            </a:extLst>
          </p:cNvPr>
          <p:cNvSpPr txBox="1">
            <a:spLocks/>
          </p:cNvSpPr>
          <p:nvPr userDrawn="1"/>
        </p:nvSpPr>
        <p:spPr>
          <a:xfrm>
            <a:off x="2753121" y="6496361"/>
            <a:ext cx="2057400" cy="20850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4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BD7ADC6-30BD-4A57-B412-79A6F3368C20}" type="slidenum">
              <a:rPr lang="zh-CN" altLang="en-US" sz="1600" smtClean="0"/>
              <a:pPr algn="r"/>
              <a:t>‹#›</a:t>
            </a:fld>
            <a:endParaRPr lang="zh-CN" altLang="en-US" sz="1600" dirty="0"/>
          </a:p>
        </p:txBody>
      </p:sp>
      <p:sp>
        <p:nvSpPr>
          <p:cNvPr id="21" name="矩形 6">
            <a:extLst>
              <a:ext uri="{FF2B5EF4-FFF2-40B4-BE49-F238E27FC236}">
                <a16:creationId xmlns:a16="http://schemas.microsoft.com/office/drawing/2014/main" id="{788353FA-5258-0E95-292A-5A42785406C1}"/>
              </a:ext>
            </a:extLst>
          </p:cNvPr>
          <p:cNvSpPr/>
          <p:nvPr userDrawn="1"/>
        </p:nvSpPr>
        <p:spPr>
          <a:xfrm>
            <a:off x="361950" y="303081"/>
            <a:ext cx="155925" cy="377952"/>
          </a:xfrm>
          <a:prstGeom prst="rect">
            <a:avLst/>
          </a:prstGeom>
          <a:solidFill>
            <a:srgbClr val="B30C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F76192-B594-F2AC-93A8-7376D076DF8B}"/>
              </a:ext>
            </a:extLst>
          </p:cNvPr>
          <p:cNvCxnSpPr>
            <a:cxnSpLocks/>
          </p:cNvCxnSpPr>
          <p:nvPr userDrawn="1"/>
        </p:nvCxnSpPr>
        <p:spPr>
          <a:xfrm>
            <a:off x="0" y="76016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74E958-09EE-D272-E289-DA9864DD25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880" y="6343224"/>
            <a:ext cx="2753120" cy="5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53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7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C00000"/>
        </a:buClr>
        <a:buSzPct val="60000"/>
        <a:buFont typeface="Wingdings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SzPct val="40000"/>
        <a:buFont typeface="Wingdings" pitchFamily="2" charset="2"/>
        <a:buChar char="u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KU-MARL/HAR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nicolas.epnos@gmail.com" TargetMode="External"/><Relationship Id="rId2" Type="http://schemas.openxmlformats.org/officeDocument/2006/relationships/hyperlink" Target="https://media.icml.cc/Conferences/ICML2022/Styles/icml2022.zi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54623B6-0942-4EEC-8E77-97957BADAAE4}"/>
              </a:ext>
            </a:extLst>
          </p:cNvPr>
          <p:cNvSpPr/>
          <p:nvPr/>
        </p:nvSpPr>
        <p:spPr>
          <a:xfrm>
            <a:off x="-2" y="1991209"/>
            <a:ext cx="9144000" cy="2479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24EFE0-6DEB-487F-AC9A-DD1D508E9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22" y="2180288"/>
            <a:ext cx="9144000" cy="21011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en-GB" sz="4000" dirty="0">
                <a:solidFill>
                  <a:schemeClr val="bg1"/>
                </a:solidFill>
              </a:rPr>
              <a:t>多智能体</a:t>
            </a:r>
            <a:r>
              <a:rPr lang="zh-CN" altLang="en-US" sz="4000" dirty="0">
                <a:solidFill>
                  <a:schemeClr val="bg1"/>
                </a:solidFill>
              </a:rPr>
              <a:t>系统作业：</a:t>
            </a:r>
            <a:br>
              <a:rPr lang="en-US" altLang="zh-CN" sz="4000" dirty="0">
                <a:solidFill>
                  <a:schemeClr val="bg1"/>
                </a:solidFill>
              </a:rPr>
            </a:br>
            <a:r>
              <a:rPr lang="zh-CN" altLang="en-US" sz="4000" dirty="0">
                <a:solidFill>
                  <a:schemeClr val="bg1"/>
                </a:solidFill>
              </a:rPr>
              <a:t>星际争霸对战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E2C5C1-9E4D-450E-881E-165D273403C0}"/>
              </a:ext>
            </a:extLst>
          </p:cNvPr>
          <p:cNvCxnSpPr>
            <a:cxnSpLocks/>
          </p:cNvCxnSpPr>
          <p:nvPr/>
        </p:nvCxnSpPr>
        <p:spPr>
          <a:xfrm flipH="1">
            <a:off x="3" y="1955463"/>
            <a:ext cx="91344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30613EC-657A-4ACF-8839-DD7D4C834665}"/>
              </a:ext>
            </a:extLst>
          </p:cNvPr>
          <p:cNvCxnSpPr>
            <a:cxnSpLocks/>
          </p:cNvCxnSpPr>
          <p:nvPr/>
        </p:nvCxnSpPr>
        <p:spPr>
          <a:xfrm flipH="1" flipV="1">
            <a:off x="1" y="2234300"/>
            <a:ext cx="5920897" cy="5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67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实验环境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3F7AF3-3489-4BF1-87E6-EB7D599050F7}"/>
              </a:ext>
            </a:extLst>
          </p:cNvPr>
          <p:cNvSpPr/>
          <p:nvPr/>
        </p:nvSpPr>
        <p:spPr>
          <a:xfrm>
            <a:off x="297979" y="946213"/>
            <a:ext cx="8355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dirty="0">
                <a:latin typeface="+mj-ea"/>
                <a:ea typeface="+mj-ea"/>
              </a:rPr>
              <a:t>星际争霸多智能体挑战（</a:t>
            </a:r>
            <a:r>
              <a:rPr kumimoji="1" lang="en-US" altLang="zh-CN" sz="2000" b="1" dirty="0">
                <a:latin typeface="+mj-ea"/>
                <a:ea typeface="+mj-ea"/>
              </a:rPr>
              <a:t>StarCraft Multi-Agent Challenge, SMAC</a:t>
            </a:r>
            <a:r>
              <a:rPr kumimoji="1" lang="zh-CN" altLang="en-US" sz="2000" dirty="0">
                <a:latin typeface="+mj-ea"/>
                <a:ea typeface="+mj-ea"/>
              </a:rPr>
              <a:t>）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6C9887-8B50-45DB-96FA-BE150830FBDA}"/>
              </a:ext>
            </a:extLst>
          </p:cNvPr>
          <p:cNvSpPr/>
          <p:nvPr/>
        </p:nvSpPr>
        <p:spPr>
          <a:xfrm>
            <a:off x="297978" y="1591923"/>
            <a:ext cx="8355749" cy="231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星际争霸多智能体挑战 </a:t>
            </a:r>
            <a:r>
              <a:rPr lang="en-US" altLang="zh-CN" sz="1400" dirty="0"/>
              <a:t>(</a:t>
            </a:r>
            <a:r>
              <a:rPr lang="en" altLang="zh-CN" sz="1400" dirty="0"/>
              <a:t>SMAC) </a:t>
            </a:r>
            <a:r>
              <a:rPr lang="zh-CN" altLang="en-US" sz="1400" dirty="0"/>
              <a:t>包含一组星际争霸地图，其中一支由大部分同质的盟军单位组成的队伍要击败对手队伍。它要求算法去发展有效的团队合作和分布式单位微操，是算法比较的通用平台。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/>
              <a:t>每个智能体的动作空间为</a:t>
            </a:r>
            <a:r>
              <a:rPr lang="en-US" altLang="zh-CN" sz="1400" dirty="0"/>
              <a:t>Discrete</a:t>
            </a:r>
            <a:r>
              <a:rPr lang="zh-CN" altLang="en-US" sz="1400" dirty="0"/>
              <a:t>类型，内容为不操作</a:t>
            </a:r>
            <a:r>
              <a:rPr lang="en-US" altLang="zh-CN" sz="1400" dirty="0"/>
              <a:t>(no-op)</a:t>
            </a:r>
            <a:r>
              <a:rPr lang="zh-CN" altLang="en-US" sz="1400" dirty="0"/>
              <a:t>、停止</a:t>
            </a:r>
            <a:r>
              <a:rPr lang="en-US" altLang="zh-CN" sz="1400" dirty="0"/>
              <a:t>(stop)</a:t>
            </a:r>
            <a:r>
              <a:rPr lang="zh-CN" altLang="en-US" sz="1400" dirty="0"/>
              <a:t>、向四个方向、攻击一个敌人，因此大小为</a:t>
            </a:r>
            <a:r>
              <a:rPr lang="en-US" altLang="zh-CN" sz="1400" dirty="0"/>
              <a:t> 6 + </a:t>
            </a:r>
            <a:r>
              <a:rPr lang="zh-CN" altLang="en-US" sz="1400" dirty="0"/>
              <a:t>敌人数量。举例来说，</a:t>
            </a:r>
            <a:r>
              <a:rPr lang="en-US" altLang="zh-CN" sz="1400" dirty="0"/>
              <a:t>2s_vs_1sc</a:t>
            </a:r>
            <a:r>
              <a:rPr lang="zh-CN" altLang="en-US" sz="1400" dirty="0"/>
              <a:t>这个环境，对手是</a:t>
            </a:r>
            <a:r>
              <a:rPr lang="en-US" altLang="zh-CN" sz="1400" dirty="0"/>
              <a:t> 1sc</a:t>
            </a:r>
            <a:r>
              <a:rPr lang="zh-CN" altLang="en-US" sz="1400" dirty="0"/>
              <a:t>，那么动作空间就是</a:t>
            </a:r>
            <a:r>
              <a:rPr lang="en-US" altLang="zh-CN" sz="1400" dirty="0"/>
              <a:t>Discrete(7)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智能体的观测空间由智能体自身特征、敌人特征和队友特征组成，具体大小因地图而异。</a:t>
            </a:r>
            <a:endParaRPr lang="en-US" altLang="zh-CN" sz="1400" dirty="0"/>
          </a:p>
        </p:txBody>
      </p:sp>
      <p:pic>
        <p:nvPicPr>
          <p:cNvPr id="3" name="Picture 2" descr="SMAC">
            <a:extLst>
              <a:ext uri="{FF2B5EF4-FFF2-40B4-BE49-F238E27FC236}">
                <a16:creationId xmlns:a16="http://schemas.microsoft.com/office/drawing/2014/main" id="{4AB56C29-C850-D9FF-B845-914C60A3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102" y="4006388"/>
            <a:ext cx="2857218" cy="220449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1AE4161-BC13-BB18-CE6C-A5627BD14587}"/>
              </a:ext>
            </a:extLst>
          </p:cNvPr>
          <p:cNvSpPr/>
          <p:nvPr/>
        </p:nvSpPr>
        <p:spPr>
          <a:xfrm>
            <a:off x="297977" y="4102997"/>
            <a:ext cx="5322237" cy="198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环境的全局观测空间包含游戏的全局信息，具体内容可以通过配置文件设置，大小因地图而异。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/>
              <a:t>在这个完全合作场景中，智能体系统中的每个智能体每个</a:t>
            </a:r>
            <a:r>
              <a:rPr lang="en-US" altLang="zh-CN" sz="1400" dirty="0"/>
              <a:t>step</a:t>
            </a:r>
            <a:r>
              <a:rPr lang="zh-CN" altLang="en-US" sz="1400" dirty="0"/>
              <a:t>获得的</a:t>
            </a:r>
            <a:r>
              <a:rPr lang="en-US" altLang="zh-CN" sz="1400" dirty="0"/>
              <a:t>reward</a:t>
            </a:r>
            <a:r>
              <a:rPr lang="zh-CN" altLang="en-US" sz="1400" dirty="0"/>
              <a:t>是相同的，这个</a:t>
            </a:r>
            <a:r>
              <a:rPr lang="en-US" altLang="zh-CN" sz="1400" dirty="0"/>
              <a:t>reward</a:t>
            </a:r>
            <a:r>
              <a:rPr lang="zh-CN" altLang="en-US" sz="1400" dirty="0"/>
              <a:t>由敌我双方的伤害和死亡情况以及游戏最终结果计算得出。</a:t>
            </a:r>
            <a:endParaRPr lang="en-US" altLang="zh-CN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ACB31E-8B03-2F48-D84F-5059AC42F48B}"/>
              </a:ext>
            </a:extLst>
          </p:cNvPr>
          <p:cNvSpPr/>
          <p:nvPr/>
        </p:nvSpPr>
        <p:spPr>
          <a:xfrm>
            <a:off x="1181332" y="6087558"/>
            <a:ext cx="7118884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https://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github.com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oxwhirl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smac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BBB639-8C31-8DAE-D37C-9052E6A8193E}"/>
              </a:ext>
            </a:extLst>
          </p:cNvPr>
          <p:cNvSpPr/>
          <p:nvPr/>
        </p:nvSpPr>
        <p:spPr>
          <a:xfrm>
            <a:off x="297978" y="6099349"/>
            <a:ext cx="883354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参考代码：</a:t>
            </a:r>
            <a:endParaRPr lang="en-US" altLang="zh-CN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C72D28-B5C1-9EDA-88EA-D48BD13FBDBB}"/>
              </a:ext>
            </a:extLst>
          </p:cNvPr>
          <p:cNvSpPr/>
          <p:nvPr/>
        </p:nvSpPr>
        <p:spPr>
          <a:xfrm>
            <a:off x="297977" y="6444579"/>
            <a:ext cx="1733371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参考文献：</a:t>
            </a:r>
            <a:endParaRPr lang="en-US" altLang="zh-CN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1AAC70-60DA-321D-3A10-9E82B9111C01}"/>
              </a:ext>
            </a:extLst>
          </p:cNvPr>
          <p:cNvSpPr/>
          <p:nvPr/>
        </p:nvSpPr>
        <p:spPr>
          <a:xfrm>
            <a:off x="1147995" y="6458373"/>
            <a:ext cx="3695745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https://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arxiv.org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/abs/1902.04043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2931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多智能体强化学习算法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3F7AF3-3489-4BF1-87E6-EB7D599050F7}"/>
              </a:ext>
            </a:extLst>
          </p:cNvPr>
          <p:cNvSpPr/>
          <p:nvPr/>
        </p:nvSpPr>
        <p:spPr>
          <a:xfrm>
            <a:off x="189288" y="3429000"/>
            <a:ext cx="7193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+mj-ea"/>
                <a:ea typeface="+mj-ea"/>
              </a:rPr>
              <a:t>2.</a:t>
            </a:r>
            <a:r>
              <a:rPr kumimoji="1" lang="zh-CN" altLang="en-US" dirty="0">
                <a:latin typeface="+mj-ea"/>
                <a:ea typeface="+mj-ea"/>
              </a:rPr>
              <a:t> </a:t>
            </a:r>
            <a:r>
              <a:rPr kumimoji="1" lang="en-US" altLang="zh-CN" dirty="0">
                <a:latin typeface="+mj-ea"/>
                <a:ea typeface="+mj-ea"/>
              </a:rPr>
              <a:t>Heterogeneous-Agent Proximal Policy Optimization (HAPPO)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F44EC2-E9B0-43BB-9A7B-2299B0462C8B}"/>
              </a:ext>
            </a:extLst>
          </p:cNvPr>
          <p:cNvSpPr/>
          <p:nvPr/>
        </p:nvSpPr>
        <p:spPr>
          <a:xfrm>
            <a:off x="1541836" y="3972427"/>
            <a:ext cx="4735451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https://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github.com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/PKU-MARL/HARL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F905DD-E3B9-477F-A231-3FAD1469ECE4}"/>
              </a:ext>
            </a:extLst>
          </p:cNvPr>
          <p:cNvSpPr/>
          <p:nvPr/>
        </p:nvSpPr>
        <p:spPr>
          <a:xfrm>
            <a:off x="1622545" y="1607415"/>
            <a:ext cx="7118884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hlinkClick r:id="rId2"/>
              </a:rPr>
              <a:t>https://github.com/PKU-MARL/HARL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&amp; https://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github.com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marlbenchmark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/on-policy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F0BE0D-C9C3-4EBE-B971-ED8A2D657D3B}"/>
              </a:ext>
            </a:extLst>
          </p:cNvPr>
          <p:cNvSpPr/>
          <p:nvPr/>
        </p:nvSpPr>
        <p:spPr>
          <a:xfrm>
            <a:off x="189288" y="1025486"/>
            <a:ext cx="84169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latin typeface="+mj-ea"/>
                <a:ea typeface="+mj-ea"/>
              </a:rPr>
              <a:t>1. Multi-Agent Proximal Policy Optimization</a:t>
            </a:r>
            <a:r>
              <a:rPr kumimoji="1" lang="zh-CN" altLang="en-US" dirty="0">
                <a:latin typeface="+mj-ea"/>
                <a:ea typeface="+mj-ea"/>
              </a:rPr>
              <a:t>（</a:t>
            </a:r>
            <a:r>
              <a:rPr kumimoji="1" lang="en-US" altLang="zh-CN" dirty="0">
                <a:latin typeface="+mj-ea"/>
                <a:ea typeface="+mj-ea"/>
              </a:rPr>
              <a:t>MAPPO</a:t>
            </a:r>
            <a:r>
              <a:rPr kumimoji="1" lang="zh-CN" altLang="en-US" dirty="0">
                <a:latin typeface="+mj-ea"/>
                <a:ea typeface="+mj-ea"/>
              </a:rPr>
              <a:t>）</a:t>
            </a:r>
            <a:endParaRPr kumimoji="1" lang="en-US" altLang="zh-CN" dirty="0">
              <a:latin typeface="+mj-ea"/>
              <a:ea typeface="+mj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153648-AACF-4DD1-92DB-F5C7C92FA408}"/>
              </a:ext>
            </a:extLst>
          </p:cNvPr>
          <p:cNvSpPr/>
          <p:nvPr/>
        </p:nvSpPr>
        <p:spPr>
          <a:xfrm>
            <a:off x="739191" y="1619206"/>
            <a:ext cx="1276896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参考代码：</a:t>
            </a:r>
            <a:endParaRPr lang="en-US" altLang="zh-CN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81906A-DCA6-458B-98E7-2A3B1275ED36}"/>
              </a:ext>
            </a:extLst>
          </p:cNvPr>
          <p:cNvSpPr/>
          <p:nvPr/>
        </p:nvSpPr>
        <p:spPr>
          <a:xfrm>
            <a:off x="634415" y="3955543"/>
            <a:ext cx="883354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参考代码：</a:t>
            </a:r>
            <a:endParaRPr lang="en-US" altLang="zh-CN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C6A15DA-8B53-45AD-9630-7246353DD995}"/>
              </a:ext>
            </a:extLst>
          </p:cNvPr>
          <p:cNvSpPr/>
          <p:nvPr/>
        </p:nvSpPr>
        <p:spPr>
          <a:xfrm>
            <a:off x="729666" y="2210667"/>
            <a:ext cx="883354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参考文献：</a:t>
            </a:r>
            <a:endParaRPr lang="en-US" altLang="zh-CN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5E6981-2E73-410A-BAD1-BF4F7718C2AC}"/>
              </a:ext>
            </a:extLst>
          </p:cNvPr>
          <p:cNvSpPr/>
          <p:nvPr/>
        </p:nvSpPr>
        <p:spPr>
          <a:xfrm>
            <a:off x="634415" y="4563336"/>
            <a:ext cx="883354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参考文献：</a:t>
            </a:r>
            <a:endParaRPr lang="en-US" altLang="zh-CN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B3E8E9-4C1F-4155-814B-68CEBF2B00E9}"/>
              </a:ext>
            </a:extLst>
          </p:cNvPr>
          <p:cNvSpPr/>
          <p:nvPr/>
        </p:nvSpPr>
        <p:spPr>
          <a:xfrm>
            <a:off x="1579683" y="2224461"/>
            <a:ext cx="3695745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https://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arxiv.org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/pdf/2103.01955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CF961E-377E-4A13-B1BA-588D623561B4}"/>
              </a:ext>
            </a:extLst>
          </p:cNvPr>
          <p:cNvSpPr/>
          <p:nvPr/>
        </p:nvSpPr>
        <p:spPr>
          <a:xfrm>
            <a:off x="1617782" y="4561159"/>
            <a:ext cx="4902927" cy="357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https://</a:t>
            </a:r>
            <a:r>
              <a:rPr lang="en-US" altLang="zh-CN" sz="1300" dirty="0" err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jmlr.org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/papers/volume25/23-0488/23-0488.pdf</a:t>
            </a:r>
            <a:endParaRPr lang="zh-CN" altLang="en-US" sz="13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D40D199-44CA-4DAE-98D1-65C77D410CE7}"/>
              </a:ext>
            </a:extLst>
          </p:cNvPr>
          <p:cNvSpPr/>
          <p:nvPr/>
        </p:nvSpPr>
        <p:spPr>
          <a:xfrm>
            <a:off x="1223283" y="2772239"/>
            <a:ext cx="6179999" cy="418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+mj-ea"/>
                <a:ea typeface="+mj-ea"/>
              </a:rPr>
              <a:t>直接把单智能体</a:t>
            </a:r>
            <a:r>
              <a:rPr kumimoji="1" lang="en-US" altLang="zh-CN" sz="1600" dirty="0">
                <a:solidFill>
                  <a:srgbClr val="C00000"/>
                </a:solidFill>
                <a:latin typeface="+mj-ea"/>
                <a:ea typeface="+mj-ea"/>
              </a:rPr>
              <a:t>PPO</a:t>
            </a:r>
            <a:r>
              <a:rPr kumimoji="1" lang="zh-CN" altLang="en-US" sz="1600" dirty="0">
                <a:solidFill>
                  <a:srgbClr val="C00000"/>
                </a:solidFill>
                <a:latin typeface="+mj-ea"/>
                <a:ea typeface="+mj-ea"/>
              </a:rPr>
              <a:t>算法扩展到多智能体场景下</a:t>
            </a:r>
            <a:endParaRPr lang="zh-CN" altLang="en-US" sz="1600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C9C541-72D7-EE11-5CC0-C8EC7DCFE739}"/>
              </a:ext>
            </a:extLst>
          </p:cNvPr>
          <p:cNvSpPr/>
          <p:nvPr/>
        </p:nvSpPr>
        <p:spPr>
          <a:xfrm>
            <a:off x="1359337" y="5181434"/>
            <a:ext cx="6425325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latin typeface="+mj-ea"/>
                <a:ea typeface="+mj-ea"/>
              </a:rPr>
              <a:t>提出了多智能体优势分解引理和顺序更新策略，有理论上的回报单调提升性和纳什均衡收敛性</a:t>
            </a:r>
          </a:p>
        </p:txBody>
      </p:sp>
    </p:spTree>
    <p:extLst>
      <p:ext uri="{BB962C8B-B14F-4D97-AF65-F5344CB8AC3E}">
        <p14:creationId xmlns:p14="http://schemas.microsoft.com/office/powerpoint/2010/main" val="159552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CE72C-5445-1644-9610-8CB3F4F5A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828803"/>
            <a:ext cx="8413750" cy="610339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kumimoji="1" lang="zh-CN" altLang="en-US" sz="1100" dirty="0">
                <a:latin typeface="+mj-ea"/>
                <a:ea typeface="+mj-ea"/>
              </a:rPr>
              <a:t>目标：体验并熟悉多智能体强化学习算法在某个环境上训练、测试、分析的完整流程，为今后的科学研究和工程实践打好基础。</a:t>
            </a:r>
            <a:endParaRPr kumimoji="1" lang="en-US" altLang="zh-CN" sz="11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500" b="1" dirty="0">
                <a:latin typeface="+mj-ea"/>
                <a:ea typeface="+mj-ea"/>
              </a:rPr>
              <a:t>一、论文阅读与代码理解</a:t>
            </a:r>
            <a:endParaRPr kumimoji="1" lang="en-US" altLang="zh-CN" sz="1500" b="1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阅读</a:t>
            </a:r>
            <a:r>
              <a:rPr kumimoji="1" lang="en-US" altLang="zh-CN" sz="1300" dirty="0">
                <a:latin typeface="+mj-ea"/>
                <a:ea typeface="+mj-ea"/>
              </a:rPr>
              <a:t>MAPPO</a:t>
            </a:r>
            <a:r>
              <a:rPr kumimoji="1" lang="zh-CN" altLang="en-US" sz="1300" dirty="0">
                <a:latin typeface="+mj-ea"/>
                <a:ea typeface="+mj-ea"/>
              </a:rPr>
              <a:t>、</a:t>
            </a:r>
            <a:r>
              <a:rPr kumimoji="1" lang="en-US" altLang="zh-CN" sz="1300" dirty="0">
                <a:latin typeface="+mj-ea"/>
                <a:ea typeface="+mj-ea"/>
              </a:rPr>
              <a:t>HAPPO</a:t>
            </a:r>
            <a:r>
              <a:rPr kumimoji="1" lang="zh-CN" altLang="en-US" sz="1300" dirty="0">
                <a:latin typeface="+mj-ea"/>
                <a:ea typeface="+mj-ea"/>
              </a:rPr>
              <a:t>的论文，在报告中简要介绍这三个算法的核心内容。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阅读</a:t>
            </a:r>
            <a:r>
              <a:rPr kumimoji="1" lang="en-US" altLang="zh-CN" sz="1300" dirty="0">
                <a:latin typeface="+mj-ea"/>
                <a:ea typeface="+mj-ea"/>
              </a:rPr>
              <a:t>HARL</a:t>
            </a:r>
            <a:r>
              <a:rPr kumimoji="1" lang="zh-CN" altLang="en-US" sz="1300" dirty="0">
                <a:latin typeface="+mj-ea"/>
                <a:ea typeface="+mj-ea"/>
              </a:rPr>
              <a:t>代码，在报告中将算法核心内容与核心代码进行对应，比如</a:t>
            </a:r>
            <a:r>
              <a:rPr kumimoji="1" lang="en-US" altLang="zh-CN" sz="1300" dirty="0">
                <a:latin typeface="+mj-ea"/>
                <a:ea typeface="+mj-ea"/>
              </a:rPr>
              <a:t>HAPPO</a:t>
            </a:r>
            <a:r>
              <a:rPr kumimoji="1" lang="zh-CN" altLang="en-US" sz="1300" dirty="0">
                <a:latin typeface="+mj-ea"/>
                <a:ea typeface="+mj-ea"/>
              </a:rPr>
              <a:t>中的</a:t>
            </a:r>
            <a:r>
              <a:rPr kumimoji="1" lang="en-US" altLang="zh-CN" sz="1300" dirty="0">
                <a:latin typeface="+mj-ea"/>
                <a:ea typeface="+mj-ea"/>
              </a:rPr>
              <a:t>clip</a:t>
            </a:r>
            <a:r>
              <a:rPr kumimoji="1" lang="zh-CN" altLang="en-US" sz="1300" dirty="0">
                <a:latin typeface="+mj-ea"/>
                <a:ea typeface="+mj-ea"/>
              </a:rPr>
              <a:t>运算、</a:t>
            </a:r>
            <a:r>
              <a:rPr kumimoji="1" lang="en-US" altLang="zh-CN" sz="1300" dirty="0">
                <a:latin typeface="+mj-ea"/>
                <a:ea typeface="+mj-ea"/>
              </a:rPr>
              <a:t>HAPPO</a:t>
            </a:r>
            <a:r>
              <a:rPr kumimoji="1" lang="zh-CN" altLang="en-US" sz="1300" dirty="0">
                <a:latin typeface="+mj-ea"/>
                <a:ea typeface="+mj-ea"/>
              </a:rPr>
              <a:t>中</a:t>
            </a:r>
            <a:r>
              <a:rPr kumimoji="1" lang="en-US" altLang="zh-CN" sz="1300" dirty="0">
                <a:latin typeface="+mj-ea"/>
                <a:ea typeface="+mj-ea"/>
              </a:rPr>
              <a:t>advantage</a:t>
            </a:r>
            <a:r>
              <a:rPr kumimoji="1" lang="zh-CN" altLang="en-US" sz="1300" dirty="0">
                <a:latin typeface="+mj-ea"/>
                <a:ea typeface="+mj-ea"/>
              </a:rPr>
              <a:t>前面</a:t>
            </a:r>
            <a:r>
              <a:rPr kumimoji="1" lang="en-US" altLang="zh-CN" sz="1300" dirty="0">
                <a:latin typeface="+mj-ea"/>
                <a:ea typeface="+mj-ea"/>
              </a:rPr>
              <a:t>factor</a:t>
            </a:r>
            <a:r>
              <a:rPr kumimoji="1" lang="zh-CN" altLang="en-US" sz="1300" dirty="0">
                <a:latin typeface="+mj-ea"/>
                <a:ea typeface="+mj-ea"/>
              </a:rPr>
              <a:t>的计算和更新、</a:t>
            </a:r>
            <a:r>
              <a:rPr kumimoji="1" lang="en-US" altLang="zh-CN" sz="1300" dirty="0">
                <a:latin typeface="+mj-ea"/>
                <a:ea typeface="+mj-ea"/>
              </a:rPr>
              <a:t>GAE</a:t>
            </a:r>
            <a:r>
              <a:rPr kumimoji="1" lang="zh-CN" altLang="en-US" sz="1300" dirty="0">
                <a:latin typeface="+mj-ea"/>
                <a:ea typeface="+mj-ea"/>
              </a:rPr>
              <a:t>的计算等等。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500" b="1" dirty="0">
                <a:latin typeface="+mj-ea"/>
                <a:ea typeface="+mj-ea"/>
              </a:rPr>
              <a:t>二、环境配置与算法复现</a:t>
            </a:r>
            <a:endParaRPr kumimoji="1" lang="en-US" altLang="zh-CN" sz="1500" b="1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根据</a:t>
            </a:r>
            <a:r>
              <a:rPr kumimoji="1" lang="en-US" altLang="zh-CN" sz="1300" dirty="0">
                <a:latin typeface="+mj-ea"/>
                <a:ea typeface="+mj-ea"/>
              </a:rPr>
              <a:t>HARL</a:t>
            </a:r>
            <a:r>
              <a:rPr kumimoji="1" lang="zh-CN" altLang="en-US" sz="1300" dirty="0">
                <a:latin typeface="+mj-ea"/>
                <a:ea typeface="+mj-ea"/>
              </a:rPr>
              <a:t>库的</a:t>
            </a:r>
            <a:r>
              <a:rPr kumimoji="1" lang="en-US" altLang="zh-CN" sz="1300" dirty="0">
                <a:latin typeface="+mj-ea"/>
                <a:ea typeface="+mj-ea"/>
              </a:rPr>
              <a:t>README</a:t>
            </a:r>
            <a:r>
              <a:rPr kumimoji="1" lang="zh-CN" altLang="en-US" sz="1300" dirty="0">
                <a:latin typeface="+mj-ea"/>
                <a:ea typeface="+mj-ea"/>
              </a:rPr>
              <a:t>，安装</a:t>
            </a:r>
            <a:r>
              <a:rPr kumimoji="1" lang="en-US" altLang="zh-CN" sz="1300" dirty="0">
                <a:latin typeface="+mj-ea"/>
                <a:ea typeface="+mj-ea"/>
              </a:rPr>
              <a:t>HARL</a:t>
            </a:r>
            <a:r>
              <a:rPr kumimoji="1" lang="zh-CN" altLang="en-US" sz="1300" dirty="0">
                <a:latin typeface="+mj-ea"/>
                <a:ea typeface="+mj-ea"/>
              </a:rPr>
              <a:t>算法库和</a:t>
            </a:r>
            <a:r>
              <a:rPr kumimoji="1" lang="en-US" altLang="zh-CN" sz="1300" dirty="0">
                <a:latin typeface="+mj-ea"/>
                <a:ea typeface="+mj-ea"/>
              </a:rPr>
              <a:t>SMAC</a:t>
            </a:r>
            <a:r>
              <a:rPr kumimoji="1" lang="zh-CN" altLang="en-US" sz="1300" dirty="0">
                <a:latin typeface="+mj-ea"/>
                <a:ea typeface="+mj-ea"/>
              </a:rPr>
              <a:t>环境，注意安装流程要完整看完，不要漏掉任何一步，在报告中记录安装过程。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使用</a:t>
            </a:r>
            <a:r>
              <a:rPr kumimoji="1" lang="en-US" altLang="zh-CN" sz="1300" dirty="0">
                <a:latin typeface="+mj-ea"/>
                <a:ea typeface="+mj-ea"/>
              </a:rPr>
              <a:t>HARL</a:t>
            </a:r>
            <a:r>
              <a:rPr kumimoji="1" lang="zh-CN" altLang="en-US" sz="1300" dirty="0">
                <a:latin typeface="+mj-ea"/>
                <a:ea typeface="+mj-ea"/>
              </a:rPr>
              <a:t>库中提供的</a:t>
            </a:r>
            <a:r>
              <a:rPr kumimoji="1" lang="en-US" altLang="zh-CN" sz="1300" dirty="0">
                <a:latin typeface="+mj-ea"/>
                <a:ea typeface="+mj-ea"/>
              </a:rPr>
              <a:t>config</a:t>
            </a:r>
            <a:r>
              <a:rPr kumimoji="1" lang="zh-CN" altLang="en-US" sz="1300" dirty="0">
                <a:latin typeface="+mj-ea"/>
                <a:ea typeface="+mj-ea"/>
              </a:rPr>
              <a:t>（</a:t>
            </a:r>
            <a:r>
              <a:rPr kumimoji="1" lang="en-US" altLang="zh-CN" sz="1300" dirty="0" err="1">
                <a:latin typeface="+mj-ea"/>
                <a:ea typeface="+mj-ea"/>
              </a:rPr>
              <a:t>tuned_configs</a:t>
            </a:r>
            <a:r>
              <a:rPr kumimoji="1" lang="zh-CN" altLang="en-US" sz="1300" dirty="0">
                <a:latin typeface="+mj-ea"/>
                <a:ea typeface="+mj-ea"/>
              </a:rPr>
              <a:t>路径下面）</a:t>
            </a:r>
            <a:r>
              <a:rPr kumimoji="1" lang="zh-CN" altLang="en-US" sz="1300" b="1" dirty="0">
                <a:latin typeface="+mj-ea"/>
                <a:ea typeface="+mj-ea"/>
              </a:rPr>
              <a:t>完成</a:t>
            </a:r>
            <a:r>
              <a:rPr kumimoji="1" lang="en-US" altLang="zh-CN" sz="1300" b="1" dirty="0">
                <a:latin typeface="+mj-ea"/>
                <a:ea typeface="+mj-ea"/>
              </a:rPr>
              <a:t>MAPPO</a:t>
            </a:r>
            <a:r>
              <a:rPr kumimoji="1" lang="zh-CN" altLang="en-US" sz="1300" b="1" dirty="0">
                <a:latin typeface="+mj-ea"/>
                <a:ea typeface="+mj-ea"/>
              </a:rPr>
              <a:t>、</a:t>
            </a:r>
            <a:r>
              <a:rPr kumimoji="1" lang="en-US" altLang="zh-CN" sz="1300" b="1" dirty="0">
                <a:latin typeface="+mj-ea"/>
                <a:ea typeface="+mj-ea"/>
              </a:rPr>
              <a:t>HAPPO</a:t>
            </a:r>
            <a:r>
              <a:rPr kumimoji="1" lang="zh-CN" altLang="en-US" sz="1300" b="1" dirty="0">
                <a:latin typeface="+mj-ea"/>
                <a:ea typeface="+mj-ea"/>
              </a:rPr>
              <a:t>在</a:t>
            </a:r>
            <a:r>
              <a:rPr kumimoji="1" lang="en-US" altLang="zh-CN" sz="1300" b="1" dirty="0">
                <a:latin typeface="+mj-ea"/>
                <a:ea typeface="+mj-ea"/>
              </a:rPr>
              <a:t>3s5z</a:t>
            </a:r>
            <a:r>
              <a:rPr kumimoji="1" lang="zh-CN" altLang="en-US" sz="1300" b="1" dirty="0">
                <a:latin typeface="+mj-ea"/>
                <a:ea typeface="+mj-ea"/>
              </a:rPr>
              <a:t>、</a:t>
            </a:r>
            <a:r>
              <a:rPr kumimoji="1" lang="en-US" altLang="zh-CN" sz="1300" b="1" dirty="0">
                <a:latin typeface="+mj-ea"/>
                <a:ea typeface="+mj-ea"/>
              </a:rPr>
              <a:t>8m_vs_9m</a:t>
            </a:r>
            <a:r>
              <a:rPr kumimoji="1" lang="zh-CN" altLang="en-US" sz="1300" b="1" dirty="0">
                <a:latin typeface="+mj-ea"/>
                <a:ea typeface="+mj-ea"/>
              </a:rPr>
              <a:t>两个地图上的训练</a:t>
            </a:r>
            <a:r>
              <a:rPr kumimoji="1" lang="zh-CN" altLang="en-US" sz="1300" dirty="0">
                <a:latin typeface="+mj-ea"/>
                <a:ea typeface="+mj-ea"/>
              </a:rPr>
              <a:t>，根据输出的</a:t>
            </a:r>
            <a:r>
              <a:rPr kumimoji="1" lang="en-US" altLang="zh-CN" sz="1300" dirty="0" err="1">
                <a:latin typeface="+mj-ea"/>
                <a:ea typeface="+mj-ea"/>
              </a:rPr>
              <a:t>progress.txt</a:t>
            </a:r>
            <a:r>
              <a:rPr kumimoji="1" lang="zh-CN" altLang="en-US" sz="1300" dirty="0">
                <a:latin typeface="+mj-ea"/>
                <a:ea typeface="+mj-ea"/>
              </a:rPr>
              <a:t>绘制</a:t>
            </a:r>
            <a:r>
              <a:rPr kumimoji="1" lang="en-US" altLang="zh-CN" sz="1300" dirty="0">
                <a:latin typeface="+mj-ea"/>
                <a:ea typeface="+mj-ea"/>
              </a:rPr>
              <a:t>win rate</a:t>
            </a:r>
            <a:r>
              <a:rPr kumimoji="1" lang="zh-CN" altLang="en-US" sz="1300" dirty="0">
                <a:latin typeface="+mj-ea"/>
                <a:ea typeface="+mj-ea"/>
              </a:rPr>
              <a:t>曲线，在报告中展示并讨论你的观察和思考。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500" b="1" dirty="0">
                <a:latin typeface="+mj-ea"/>
                <a:ea typeface="+mj-ea"/>
              </a:rPr>
              <a:t>三、自由探索（</a:t>
            </a:r>
            <a:r>
              <a:rPr kumimoji="1" lang="en-US" altLang="zh-CN" sz="1500" b="1" dirty="0">
                <a:latin typeface="+mj-ea"/>
                <a:ea typeface="+mj-ea"/>
              </a:rPr>
              <a:t>Bonus</a:t>
            </a:r>
            <a:r>
              <a:rPr kumimoji="1" lang="zh-CN" altLang="en-US" sz="1500" b="1" dirty="0">
                <a:latin typeface="+mj-ea"/>
                <a:ea typeface="+mj-ea"/>
              </a:rPr>
              <a:t>）</a:t>
            </a:r>
            <a:endParaRPr kumimoji="1" lang="en-US" altLang="zh-CN" sz="1500" b="1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进一步探索</a:t>
            </a:r>
            <a:r>
              <a:rPr kumimoji="1" lang="en-US" altLang="zh-CN" sz="1300" dirty="0">
                <a:latin typeface="+mj-ea"/>
                <a:ea typeface="+mj-ea"/>
              </a:rPr>
              <a:t>SMAC</a:t>
            </a:r>
            <a:r>
              <a:rPr kumimoji="1" lang="zh-CN" altLang="en-US" sz="1300" dirty="0">
                <a:latin typeface="+mj-ea"/>
                <a:ea typeface="+mj-ea"/>
              </a:rPr>
              <a:t>上其他地图的训练、</a:t>
            </a:r>
            <a:r>
              <a:rPr kumimoji="1" lang="en-US" altLang="zh-CN" sz="1300" dirty="0">
                <a:latin typeface="+mj-ea"/>
                <a:ea typeface="+mj-ea"/>
              </a:rPr>
              <a:t>HARL</a:t>
            </a:r>
            <a:r>
              <a:rPr kumimoji="1" lang="zh-CN" altLang="en-US" sz="1300" dirty="0">
                <a:latin typeface="+mj-ea"/>
                <a:ea typeface="+mj-ea"/>
              </a:rPr>
              <a:t>中提供支持的其他环境（比如</a:t>
            </a:r>
            <a:r>
              <a:rPr kumimoji="1" lang="en-US" altLang="zh-CN" sz="1300" dirty="0" err="1">
                <a:latin typeface="+mj-ea"/>
                <a:ea typeface="+mj-ea"/>
              </a:rPr>
              <a:t>MAMuJoCo</a:t>
            </a:r>
            <a:r>
              <a:rPr kumimoji="1" lang="zh-CN" altLang="en-US" sz="1300" dirty="0">
                <a:latin typeface="+mj-ea"/>
                <a:ea typeface="+mj-ea"/>
              </a:rPr>
              <a:t>）的训练。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自行实现其他</a:t>
            </a:r>
            <a:r>
              <a:rPr kumimoji="1" lang="en-US" altLang="zh-CN" sz="1300" dirty="0">
                <a:latin typeface="+mj-ea"/>
                <a:ea typeface="+mj-ea"/>
              </a:rPr>
              <a:t>MARL</a:t>
            </a:r>
            <a:r>
              <a:rPr kumimoji="1" lang="zh-CN" altLang="en-US" sz="1300" dirty="0">
                <a:latin typeface="+mj-ea"/>
                <a:ea typeface="+mj-ea"/>
              </a:rPr>
              <a:t>算法或提出新的算法，在</a:t>
            </a:r>
            <a:r>
              <a:rPr kumimoji="1" lang="en-US" altLang="zh-CN" sz="1300" dirty="0">
                <a:latin typeface="+mj-ea"/>
                <a:ea typeface="+mj-ea"/>
              </a:rPr>
              <a:t>SMAC</a:t>
            </a:r>
            <a:r>
              <a:rPr kumimoji="1" lang="zh-CN" altLang="en-US" sz="1300" dirty="0">
                <a:latin typeface="+mj-ea"/>
                <a:ea typeface="+mj-ea"/>
              </a:rPr>
              <a:t>或其他环境上训练，观察训练结果。</a:t>
            </a:r>
            <a:endParaRPr kumimoji="1" lang="en-US" altLang="zh-CN" sz="13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6205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F44EC2-E9B0-43BB-9A7B-2299B0462C8B}"/>
              </a:ext>
            </a:extLst>
          </p:cNvPr>
          <p:cNvSpPr/>
          <p:nvPr/>
        </p:nvSpPr>
        <p:spPr>
          <a:xfrm>
            <a:off x="322324" y="1403113"/>
            <a:ext cx="8502650" cy="356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b="1" dirty="0">
                <a:latin typeface="+mj-ea"/>
                <a:ea typeface="+mj-ea"/>
              </a:rPr>
              <a:t>[1] 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Zhong, Yifan, et al. "Heterogeneous-agent reinforcement learning." </a:t>
            </a:r>
            <a:r>
              <a:rPr lang="en" altLang="zh-C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Machine Learning Research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25.32 (2024): 1-67.</a:t>
            </a:r>
            <a:endParaRPr lang="en-US" altLang="zh-CN" sz="1300" b="0" i="0" dirty="0">
              <a:solidFill>
                <a:srgbClr val="222222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13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300" b="1" dirty="0">
                <a:latin typeface="+mj-ea"/>
                <a:ea typeface="+mj-ea"/>
              </a:rPr>
              <a:t>[2] 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Yu, Chao, et al. "The surprising effectiveness of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ppo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cooperative multi-agent games." </a:t>
            </a:r>
            <a:r>
              <a:rPr lang="en" altLang="zh-C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35 (2022): 24611-24624.</a:t>
            </a:r>
            <a:endParaRPr lang="en-US" altLang="zh-CN" sz="1300" b="0" i="0" dirty="0">
              <a:solidFill>
                <a:srgbClr val="222222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13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300" b="1" dirty="0">
                <a:latin typeface="+mj-ea"/>
                <a:ea typeface="+mj-ea"/>
              </a:rPr>
              <a:t>[3]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Samvelyan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Mikayel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"The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starcraft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multi-agent challenge." </a:t>
            </a:r>
            <a:r>
              <a:rPr lang="en" altLang="zh-CN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" altLang="zh-C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arXiv:1902.04043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(2019).</a:t>
            </a:r>
          </a:p>
          <a:p>
            <a:pPr>
              <a:lnSpc>
                <a:spcPct val="150000"/>
              </a:lnSpc>
            </a:pPr>
            <a:endParaRPr lang="en" altLang="zh-CN" sz="1400" dirty="0">
              <a:solidFill>
                <a:srgbClr val="222222"/>
              </a:solidFill>
              <a:latin typeface="Arial" panose="020B0604020202020204" pitchFamily="34" charset="0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" altLang="zh-CN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+mj-ea"/>
              </a:rPr>
              <a:t>[4] 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Peng, Bei, et al. "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Facmac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Factored multi-agent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centralised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policy gradients." </a:t>
            </a:r>
            <a:r>
              <a:rPr lang="en" altLang="zh-C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34 (2021): 12208-12221.</a:t>
            </a:r>
            <a:endParaRPr lang="en-US" altLang="zh-CN" sz="1300" b="0" i="0" dirty="0">
              <a:solidFill>
                <a:srgbClr val="222222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4733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54623B6-0942-4EEC-8E77-97957BADAAE4}"/>
              </a:ext>
            </a:extLst>
          </p:cNvPr>
          <p:cNvSpPr/>
          <p:nvPr/>
        </p:nvSpPr>
        <p:spPr>
          <a:xfrm>
            <a:off x="-2" y="1991209"/>
            <a:ext cx="9144000" cy="2479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24EFE0-6DEB-487F-AC9A-DD1D508E9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22" y="2180288"/>
            <a:ext cx="9144000" cy="21011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bg1"/>
                </a:solidFill>
              </a:rPr>
              <a:t>提交说明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E2C5C1-9E4D-450E-881E-165D273403C0}"/>
              </a:ext>
            </a:extLst>
          </p:cNvPr>
          <p:cNvCxnSpPr>
            <a:cxnSpLocks/>
          </p:cNvCxnSpPr>
          <p:nvPr/>
        </p:nvCxnSpPr>
        <p:spPr>
          <a:xfrm flipH="1">
            <a:off x="3" y="1955463"/>
            <a:ext cx="91344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30613EC-657A-4ACF-8839-DD7D4C834665}"/>
              </a:ext>
            </a:extLst>
          </p:cNvPr>
          <p:cNvCxnSpPr>
            <a:cxnSpLocks/>
          </p:cNvCxnSpPr>
          <p:nvPr/>
        </p:nvCxnSpPr>
        <p:spPr>
          <a:xfrm flipH="1" flipV="1">
            <a:off x="1" y="2234300"/>
            <a:ext cx="5920897" cy="5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51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74" y="259976"/>
            <a:ext cx="8416925" cy="587312"/>
          </a:xfrm>
        </p:spPr>
        <p:txBody>
          <a:bodyPr/>
          <a:lstStyle/>
          <a:p>
            <a:r>
              <a:rPr kumimoji="1" lang="zh-CN" altLang="en-US" dirty="0"/>
              <a:t>提交说明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CE72C-5445-1644-9610-8CB3F4F5A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131" y="1106940"/>
            <a:ext cx="8413750" cy="43021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kumimoji="1" lang="zh-CN" altLang="en-US" sz="1400" dirty="0">
                <a:latin typeface="+mj-ea"/>
                <a:ea typeface="+mj-ea"/>
              </a:rPr>
              <a:t>最终提交内容需对于每个作业，将以下几部分压缩打包命名为“学号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姓名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作业名称”。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en-US" altLang="zh-CN" sz="1400" b="1" dirty="0">
                <a:latin typeface="+mj-ea"/>
                <a:ea typeface="+mj-ea"/>
              </a:rPr>
              <a:t>1.</a:t>
            </a:r>
            <a:r>
              <a:rPr kumimoji="1" lang="zh-CN" altLang="en-US" sz="1400" b="1" dirty="0">
                <a:latin typeface="+mj-ea"/>
                <a:ea typeface="+mj-ea"/>
              </a:rPr>
              <a:t> 研究性报告</a:t>
            </a:r>
            <a:r>
              <a:rPr kumimoji="1" lang="zh-CN" altLang="en-US" sz="1400" dirty="0">
                <a:latin typeface="+mj-ea"/>
                <a:ea typeface="+mj-ea"/>
              </a:rPr>
              <a:t>，</a:t>
            </a:r>
            <a:r>
              <a:rPr kumimoji="1" lang="en-US" altLang="zh-CN" sz="1400" dirty="0">
                <a:latin typeface="+mj-ea"/>
                <a:ea typeface="+mj-ea"/>
              </a:rPr>
              <a:t>pdf</a:t>
            </a:r>
            <a:r>
              <a:rPr kumimoji="1" lang="zh-CN" altLang="en-US" sz="1400" dirty="0">
                <a:latin typeface="+mj-ea"/>
                <a:ea typeface="+mj-ea"/>
              </a:rPr>
              <a:t>形式，中英文皆可，页数无强制要求但建议不少于</a:t>
            </a:r>
            <a:r>
              <a:rPr kumimoji="1" lang="en-US" altLang="zh-CN" sz="1400" dirty="0">
                <a:latin typeface="+mj-ea"/>
                <a:ea typeface="+mj-ea"/>
              </a:rPr>
              <a:t>3</a:t>
            </a:r>
            <a:r>
              <a:rPr kumimoji="1" lang="zh-CN" altLang="en-US" sz="1400" dirty="0">
                <a:latin typeface="+mj-ea"/>
                <a:ea typeface="+mj-ea"/>
              </a:rPr>
              <a:t>页，内容包括但不限于每个作业要求的内容，必要时可配图说明，同时注意参考文献的引用。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en-US" altLang="zh-CN" sz="1400" dirty="0">
                <a:latin typeface="+mj-ea"/>
                <a:ea typeface="+mj-ea"/>
              </a:rPr>
              <a:t>      1</a:t>
            </a:r>
            <a:r>
              <a:rPr kumimoji="1" lang="zh-CN" altLang="en-US" sz="1400" dirty="0">
                <a:latin typeface="+mj-ea"/>
                <a:ea typeface="+mj-ea"/>
              </a:rPr>
              <a:t>）</a:t>
            </a:r>
            <a:r>
              <a:rPr kumimoji="1" lang="en-US" altLang="zh-CN" sz="1400" dirty="0">
                <a:latin typeface="+mj-ea"/>
                <a:ea typeface="+mj-ea"/>
              </a:rPr>
              <a:t>Latex</a:t>
            </a:r>
            <a:r>
              <a:rPr kumimoji="1" lang="zh-CN" altLang="en-US" sz="1400" dirty="0">
                <a:latin typeface="+mj-ea"/>
                <a:ea typeface="+mj-ea"/>
              </a:rPr>
              <a:t>版采用</a:t>
            </a:r>
            <a:r>
              <a:rPr kumimoji="1" lang="en-US" altLang="zh-CN" sz="1400" dirty="0">
                <a:latin typeface="+mj-ea"/>
                <a:ea typeface="+mj-ea"/>
              </a:rPr>
              <a:t>ICML2022</a:t>
            </a:r>
            <a:r>
              <a:rPr kumimoji="1" lang="zh-CN" altLang="en-US" sz="1400" dirty="0">
                <a:latin typeface="+mj-ea"/>
                <a:ea typeface="+mj-ea"/>
              </a:rPr>
              <a:t>模板    </a:t>
            </a:r>
            <a:r>
              <a:rPr kumimoji="1" lang="en-US" altLang="zh-CN" sz="1400" dirty="0">
                <a:latin typeface="+mj-ea"/>
                <a:ea typeface="+mj-ea"/>
              </a:rPr>
              <a:t>	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https://media.icml.cc/Conferences/ICML2022/Styles/icml2022.zip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en-US" altLang="zh-CN" sz="1400" dirty="0">
                <a:latin typeface="+mj-ea"/>
                <a:ea typeface="+mj-ea"/>
              </a:rPr>
              <a:t>      2</a:t>
            </a:r>
            <a:r>
              <a:rPr kumimoji="1" lang="zh-CN" altLang="en-US" sz="1400" dirty="0">
                <a:latin typeface="+mj-ea"/>
                <a:ea typeface="+mj-ea"/>
              </a:rPr>
              <a:t>）</a:t>
            </a:r>
            <a:r>
              <a:rPr kumimoji="1" lang="en-US" altLang="zh-CN" sz="1400" dirty="0">
                <a:latin typeface="+mj-ea"/>
                <a:ea typeface="+mj-ea"/>
              </a:rPr>
              <a:t>Word</a:t>
            </a:r>
            <a:r>
              <a:rPr kumimoji="1" lang="zh-CN" altLang="en-US" sz="1400" dirty="0">
                <a:latin typeface="+mj-ea"/>
                <a:ea typeface="+mj-ea"/>
              </a:rPr>
              <a:t>版无给定模板，但总体要求采用双栏，单倍行距。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字体：英文为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 New Roman 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，中文为宋体。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en-US" altLang="zh-CN" sz="1400" dirty="0">
                <a:latin typeface="+mj-ea"/>
                <a:ea typeface="+mj-ea"/>
              </a:rPr>
              <a:t>      </a:t>
            </a:r>
            <a:r>
              <a:rPr kumimoji="1" lang="zh-CN" altLang="en-US" sz="1400" dirty="0">
                <a:latin typeface="+mj-ea"/>
                <a:ea typeface="+mj-ea"/>
              </a:rPr>
              <a:t>字体大小：总标题为三号，章节标题为四号，其他内容为五号。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en-US" altLang="zh-CN" sz="1400" b="1" dirty="0">
                <a:latin typeface="+mj-ea"/>
                <a:ea typeface="+mj-ea"/>
              </a:rPr>
              <a:t>2. </a:t>
            </a:r>
            <a:r>
              <a:rPr kumimoji="1" lang="zh-CN" altLang="en-US" sz="1400" b="1" dirty="0">
                <a:latin typeface="+mj-ea"/>
                <a:ea typeface="+mj-ea"/>
              </a:rPr>
              <a:t>补充材料 </a:t>
            </a:r>
            <a:r>
              <a:rPr kumimoji="1" lang="en-US" altLang="zh-CN" sz="1400" b="1" dirty="0">
                <a:latin typeface="+mj-ea"/>
                <a:ea typeface="+mj-ea"/>
              </a:rPr>
              <a:t>(</a:t>
            </a:r>
            <a:r>
              <a:rPr kumimoji="1" lang="zh-CN" altLang="en-US" sz="1400" b="1" dirty="0">
                <a:latin typeface="+mj-ea"/>
                <a:ea typeface="+mj-ea"/>
              </a:rPr>
              <a:t>非必须</a:t>
            </a:r>
            <a:r>
              <a:rPr kumimoji="1" lang="en-US" altLang="zh-CN" sz="1400" b="1" dirty="0">
                <a:latin typeface="+mj-ea"/>
                <a:ea typeface="+mj-ea"/>
              </a:rPr>
              <a:t>)</a:t>
            </a:r>
            <a:r>
              <a:rPr kumimoji="1" lang="zh-CN" altLang="en-US" sz="1400" b="1" dirty="0">
                <a:latin typeface="+mj-ea"/>
                <a:ea typeface="+mj-ea"/>
              </a:rPr>
              <a:t>，</a:t>
            </a:r>
            <a:r>
              <a:rPr kumimoji="1" lang="zh-CN" altLang="en-US" sz="1400" dirty="0">
                <a:latin typeface="+mj-ea"/>
                <a:ea typeface="+mj-ea"/>
              </a:rPr>
              <a:t>可包含你的代码实现、其他展示方法或性能的材料等等。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400" dirty="0">
                <a:latin typeface="+mj-ea"/>
                <a:ea typeface="+mj-ea"/>
              </a:rPr>
              <a:t>提交邮箱：</a:t>
            </a:r>
            <a:r>
              <a:rPr kumimoji="1" lang="en" altLang="zh-CN" sz="1400" dirty="0">
                <a:latin typeface="+mj-ea"/>
                <a:ea typeface="+mj-ea"/>
                <a:hlinkClick r:id="rId3"/>
              </a:rPr>
              <a:t>nicolas.epnos@gmail.com</a:t>
            </a:r>
            <a:endParaRPr kumimoji="1" lang="en" altLang="zh-CN" sz="1400" dirty="0">
              <a:latin typeface="+mj-ea"/>
              <a:ea typeface="+mj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1D5F3A-F0A4-4DD3-FCB6-6B18694BE68B}"/>
              </a:ext>
            </a:extLst>
          </p:cNvPr>
          <p:cNvSpPr txBox="1">
            <a:spLocks/>
          </p:cNvSpPr>
          <p:nvPr/>
        </p:nvSpPr>
        <p:spPr>
          <a:xfrm>
            <a:off x="535049" y="5370387"/>
            <a:ext cx="8413750" cy="1005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SzPct val="6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40000"/>
              <a:buFont typeface="Wingdings" pitchFamily="2" charset="2"/>
              <a:buChar char="u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kumimoji="1" lang="zh-CN" altLang="en-US" sz="1400" dirty="0">
                <a:latin typeface="+mj-ea"/>
                <a:ea typeface="+mj-ea"/>
              </a:rPr>
              <a:t>可以每个作业分开提交也可以一起提交。如果一起提交，需要将所有的作业分别按照“学号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姓名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作业名称” 打包成各自的压缩包，然后再打包成一个大压缩包，命名为“学号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姓名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所有作业”提交 。</a:t>
            </a:r>
            <a:endParaRPr kumimoji="1"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598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02DFA7E-537E-183B-C3EF-264BF3E4C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82423"/>
            <a:ext cx="7772400" cy="2387600"/>
          </a:xfrm>
        </p:spPr>
        <p:txBody>
          <a:bodyPr/>
          <a:lstStyle/>
          <a:p>
            <a:r>
              <a:rPr lang="en-US" altLang="zh-CN" dirty="0"/>
              <a:t>Thanks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3248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09d88408-4af6-444c-a89e-2b89744bb4b1&quot;,&quot;Name&quot;:&quot;无&quot;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AE0E14"/>
      </a:accent1>
      <a:accent2>
        <a:srgbClr val="B20C15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31361</TotalTime>
  <Words>1015</Words>
  <Application>Microsoft Macintosh PowerPoint</Application>
  <PresentationFormat>全屏显示(4:3)</PresentationFormat>
  <Paragraphs>60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阿里巴巴普惠体 R</vt:lpstr>
      <vt:lpstr>等线</vt:lpstr>
      <vt:lpstr>微软雅黑</vt:lpstr>
      <vt:lpstr>Arial</vt:lpstr>
      <vt:lpstr>Wingdings</vt:lpstr>
      <vt:lpstr>Office 主题​​</vt:lpstr>
      <vt:lpstr>多智能体系统作业： 星际争霸对战</vt:lpstr>
      <vt:lpstr>实验环境</vt:lpstr>
      <vt:lpstr>多智能体强化学习算法</vt:lpstr>
      <vt:lpstr>具体内容</vt:lpstr>
      <vt:lpstr>参考文献</vt:lpstr>
      <vt:lpstr>提交说明</vt:lpstr>
      <vt:lpstr>提交说明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标题在这里</dc:title>
  <dc:creator>SHEN Xiaodan</dc:creator>
  <cp:lastModifiedBy>Yongqian Peng</cp:lastModifiedBy>
  <cp:revision>522</cp:revision>
  <dcterms:created xsi:type="dcterms:W3CDTF">2021-12-03T10:05:54Z</dcterms:created>
  <dcterms:modified xsi:type="dcterms:W3CDTF">2026-05-30T04:41:29Z</dcterms:modified>
</cp:coreProperties>
</file>